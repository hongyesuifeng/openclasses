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solidFill>
              <a:srgbClr val="2F80ED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1A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Gameplay Logic</c:v>
                  </c:pt>
                  <c:pt idx="1">
                    <c:v>3D Graphics</c:v>
                  </c:pt>
                  <c:pt idx="2">
                    <c:v>2D Graphics</c:v>
                  </c:pt>
                  <c:pt idx="3">
                    <c:v>User Interface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35.6</c:v>
                </c:pt>
                <c:pt idx="1">
                  <c:v>25.7</c:v>
                </c:pt>
                <c:pt idx="2">
                  <c:v>19.7</c:v>
                </c:pt>
                <c:pt idx="3">
                  <c:v>15.9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200" u="none">
                  <a:solidFill>
                    <a:srgbClr val="171A2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pass@1</c:v>
                </c:pt>
              </c:strCache>
            </c:strRef>
          </c:tx>
          <c:spPr>
            <a:solidFill>
              <a:srgbClr val="0F9D8A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1A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Gemini 3 Pro
(gemini-cli, 双反馈)</c:v>
                  </c:pt>
                  <c:pt idx="1">
                    <c:v>Gemini 3 Flash
(gemini-cli, 双反馈)</c:v>
                  </c:pt>
                  <c:pt idx="2">
                    <c:v>Claude Sonnet 4.5
(OpenHands, 双反馈)</c:v>
                  </c:pt>
                  <c:pt idx="3">
                    <c:v>Claude Opus 4.5
(claude-code, 双反馈)</c:v>
                  </c:pt>
                  <c:pt idx="4">
                    <c:v>GPT-5.1 Codex
(OpenHands, 双反馈)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54.5</c:v>
                </c:pt>
                <c:pt idx="1">
                  <c:v>52.3</c:v>
                </c:pt>
                <c:pt idx="2">
                  <c:v>51.1</c:v>
                </c:pt>
                <c:pt idx="3">
                  <c:v>50</c:v>
                </c:pt>
                <c:pt idx="4">
                  <c:v>49.6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200" u="none">
                  <a:solidFill>
                    <a:srgbClr val="171A2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平均成功率</c:v>
                </c:pt>
              </c:strCache>
            </c:strRef>
          </c:tx>
          <c:spPr>
            <a:solidFill>
              <a:srgbClr val="F2994A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1A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Gameplay</c:v>
                  </c:pt>
                  <c:pt idx="1">
                    <c:v>3D Graphics</c:v>
                  </c:pt>
                  <c:pt idx="2">
                    <c:v>UI</c:v>
                  </c:pt>
                  <c:pt idx="3">
                    <c:v>2D Graphics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46.9</c:v>
                </c:pt>
                <c:pt idx="1">
                  <c:v>36</c:v>
                </c:pt>
                <c:pt idx="2">
                  <c:v>35</c:v>
                </c:pt>
                <c:pt idx="3">
                  <c:v>31.6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200" u="none">
                  <a:solidFill>
                    <a:srgbClr val="171A2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PDF: GameDevBench: Evaluating Agentic Capabilities Through Game Development (arXiv:2602.11103v1, 11 Feb 2026).
- Visual asset on slide: cropped Figure 1 from the uploaded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PDF: GameDevBench: Evaluating Agentic Capabilities Through Game Development (arXiv:2602.11103v1, 11 Feb 2026).
- Claims are derived from the abstract and introduction sections; visual concepts are synthesized from the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PDF: GameDevBench: Evaluating Agentic Capabilities Through Game Development (arXiv:2602.11103v1, 11 Feb 2026).
- Visual asset on slide: cropped Figure 2 and task construction pipeline details from Sections 2.1–2.4.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PDF: GameDevBench: Evaluating Agentic Capabilities Through Game Development (arXiv:2602.11103v1, 11 Feb 2026).
- Sections 3.1–3.2; visual asset on slide: cropped Figure 3 from the uploaded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PDF: GameDevBench: Evaluating Agentic Capabilities Through Game Development (arXiv:2602.11103v1, 11 Feb 2026).
- Section 4.1 and model/framework list from Section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PDF: GameDevBench: Evaluating Agentic Capabilities Through Game Development (arXiv:2602.11103v1, 11 Feb 2026).
- Table 2, Figure 5, and Figure 6 from the uploaded PDF; Figure 6 visual cropped onto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PDF: GameDevBench: Evaluating Agentic Capabilities Through Game Development (arXiv:2602.11103v1, 11 Feb 2026).
- Synthesis of the paper’s Discussion, Error Analysis, and Conclusion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PDF: GameDevBench: Evaluating Agentic Capabilities Through Game Development (arXiv:2602.11103v1, 11 Feb 2026).
- Slide is a practical action plan synthesized from the full paper for internal adoption.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71A21"/>
          </a:solidFill>
          <a:ln w="12700">
            <a:solidFill>
              <a:srgbClr val="171A2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71A21"/>
          </a:solidFill>
          <a:ln w="12700">
            <a:solidFill>
              <a:srgbClr val="171A2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8686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GameDevBench 论文总结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13232" y="151790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2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用于团队同步与留档｜聚焦“游戏开发 Agent 能力评测”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2148840"/>
            <a:ext cx="51206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核心结论：游戏开发是高价值的多模态 Agent 评测场景；当前最强结果仅 54.5%，瓶颈主要在多模态理解与游戏开发领域知识。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" y="3886200"/>
            <a:ext cx="1051560" cy="27432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Benchmark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74520" y="3886200"/>
            <a:ext cx="1115568" cy="274320"/>
          </a:xfrm>
          <a:prstGeom prst="rect">
            <a:avLst/>
          </a:prstGeom>
          <a:solidFill>
            <a:srgbClr val="0F9D8A"/>
          </a:solidFill>
          <a:ln>
            <a:solidFill>
              <a:srgbClr val="0F9D8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Multimodal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90672" y="3886200"/>
            <a:ext cx="1051560" cy="274320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GameDev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33672" y="3886200"/>
            <a:ext cx="1097280" cy="274320"/>
          </a:xfrm>
          <a:prstGeom prst="rect">
            <a:avLst/>
          </a:prstGeom>
          <a:solidFill>
            <a:srgbClr val="EB5757"/>
          </a:solidFill>
          <a:ln>
            <a:solidFill>
              <a:srgbClr val="EB575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Eval</a:t>
            </a:r>
            <a:endParaRPr lang="en-US" sz="1100" dirty="0"/>
          </a:p>
        </p:txBody>
      </p:sp>
      <p:pic>
        <p:nvPicPr>
          <p:cNvPr id="9" name="Image 0" descr="/mnt/data/gamedev_ppt/fig1_montage.png">    </p:cNvPr>
          <p:cNvPicPr>
            <a:picLocks noChangeAspect="1"/>
          </p:cNvPicPr>
          <p:nvPr/>
        </p:nvPicPr>
        <p:blipFill>
          <a:blip r:embed="rId1"/>
          <a:srcRect l="19753" r="19753" t="0" b="0"/>
          <a:stretch/>
        </p:blipFill>
        <p:spPr>
          <a:xfrm>
            <a:off x="6400800" y="713232"/>
            <a:ext cx="5074920" cy="5074920"/>
          </a:xfrm>
          <a:prstGeom prst="rect">
            <a:avLst/>
          </a:prstGeom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pic>
      <p:sp>
        <p:nvSpPr>
          <p:cNvPr id="10" name="Text 7"/>
          <p:cNvSpPr/>
          <p:nvPr/>
        </p:nvSpPr>
        <p:spPr>
          <a:xfrm>
            <a:off x="749808" y="4800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2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作者：Wayne Chi 等（CMU / Princeton）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49808" y="50474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2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整理：论文提炼版（适合汇报 / 存档）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A2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论文在回答什么问题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686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为什么“游戏开发”是更适合检验多模态 Agent 的真实场景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6235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1A2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一句话：作者不是先做“会做游戏的 Agent”，而是先定义一个够真实、够复杂、够可验证的评测基准。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5120640" cy="4206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pPr indent="0" marL="0">
              <a:buNone/>
            </a:pPr>
            <a:r>
              <a:rPr lang="en-US" sz="18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传统软件 benchmark 多偏代码修复；游戏开发同时涉及代码、资源、场景、动画、UI 与运行效果。
</a:t>
            </a:r>
            <a:pPr indent="0" marL="0">
              <a:buNone/>
            </a:pPr>
            <a:r>
              <a:rPr lang="en-US" sz="185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pPr indent="0" marL="0">
              <a:buNone/>
            </a:pPr>
            <a:r>
              <a:rPr lang="en-US" sz="18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游戏任务天然多模态：既要理解静态视觉元素，也要理解时序变化（移动、动画、镜头）。
</a:t>
            </a:r>
            <a:pPr indent="0" marL="0">
              <a:buNone/>
            </a:pPr>
            <a:r>
              <a:rPr lang="en-US" sz="185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pPr indent="0" marL="0">
              <a:buNone/>
            </a:pPr>
            <a:r>
              <a:rPr lang="en-US" sz="18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与开放式视觉任务不同，游戏结果可通过引擎测试框架做确定性验证，评测更稳定。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400800" y="1234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A2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论文给出的定位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55080" y="1627632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29400" y="2011680"/>
            <a:ext cx="1325880" cy="228600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221284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A2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复杂工程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20840" y="28803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多文件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多场景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多资源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75320" y="2011680"/>
            <a:ext cx="1325880" cy="2286000"/>
          </a:xfrm>
          <a:prstGeom prst="roundRect">
            <a:avLst/>
          </a:prstGeom>
          <a:solidFill>
            <a:srgbClr val="E9FBF7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221284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A2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多模态理解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66760" y="28803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图片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动画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界面布局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921240" y="2011680"/>
            <a:ext cx="1325880" cy="2286000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12680" y="221284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A2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确定性验证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12680" y="28803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Godot 测试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可重复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可对比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65392" y="4709160"/>
            <a:ext cx="46634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=&gt; 这使游戏开发成为“代码 Agent”与“视觉/交互 Agent”之间的桥梁场景。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A2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Benchmark 怎么构建出来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686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 Godot 教程到可验证任务：四阶段流水线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005840" cy="658368"/>
          </a:xfrm>
          <a:prstGeom prst="round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60020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Stage 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057400" y="1417320"/>
            <a:ext cx="3977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15361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A2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数据准备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11880" y="149961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收集 Godot 4 视频与网页教程；保留可运行 repo 与开放许可证内容。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569464"/>
            <a:ext cx="1005840" cy="658368"/>
          </a:xfrm>
          <a:prstGeom prst="round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75234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Stage 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057400" y="2569464"/>
            <a:ext cx="3977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26883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A2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自动造题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11880" y="2651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 transcript + GitHub repo，让 Agent 拆解出清晰 instruction、起始工程、GT 与测试。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3721608"/>
            <a:ext cx="1005840" cy="658368"/>
          </a:xfrm>
          <a:prstGeom prst="round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39044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Stage 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057400" y="3721608"/>
            <a:ext cx="3977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38404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A2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自动修题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611880" y="380390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针对镜头、测试越界、引用不一致等常见问题，用 checklist + agent 修复。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4873752"/>
            <a:ext cx="1005840" cy="658368"/>
          </a:xfrm>
          <a:prstGeom prst="round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" y="505663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Stage 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057400" y="4873752"/>
            <a:ext cx="3977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94560" y="49926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A2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人工校验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611880" y="49560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 位标注者最终审查并补变体，得到 115 个基础任务 + 17 个变体，共 132 个任务。</a:t>
            </a:r>
            <a:endParaRPr lang="en-US" sz="1250" dirty="0"/>
          </a:p>
        </p:txBody>
      </p:sp>
      <p:pic>
        <p:nvPicPr>
          <p:cNvPr id="24" name="Image 0" descr="/mnt/data/gamedev_ppt/fig2_ui_t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955943"/>
            <a:ext cx="4754880" cy="2991835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629400" y="5532120"/>
            <a:ext cx="4663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作者选择“教程”而非野生 repo 的原因：目标更清晰、步骤更完整、解法更可追溯。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A2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这个基准为什么难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686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不是“披着游戏皮的软件题”，而是真正的多文件、多资源、多编辑器任务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5270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32688" y="19202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总任务数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971800" y="1417320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81528" y="15270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9D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82.4%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081528" y="19202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任务含额外资产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834640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32688" y="29443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99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32688" y="33375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参考解平均改动文件数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971800" y="2834640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81528" y="29443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106.2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081528" y="33375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参考解平均改动代码行数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8680" y="44805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A2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四类技能分布</a:t>
            </a:r>
            <a:endParaRPr lang="en-US" sz="15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822960" y="4709160"/>
          <a:ext cx="475488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18" name="Image 0" descr="/mnt/data/gamedev_ppt/fig3_edito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599539"/>
            <a:ext cx="5074920" cy="348518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446520" y="5440680"/>
            <a:ext cx="4572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论文强调三种“难点叠加”：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1) 工程上下文大；2) 图像/动画/资源理解多；3) 还要求最终可被自动测试通过。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A2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 评测设置与对比维度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686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模型、框架、以及是否给 Agent 视觉反馈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A2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测试模型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27432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Claude Haiku / Sonnet / Opus 4.5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Gemini 3 Flash / Pro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GPT-5.1 Codex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Kimi K2.5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Qwen3-VL-235B-Instruct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251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A2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测试框架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182880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claude-code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gemini-cli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codex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OpenHands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0" y="1371600"/>
            <a:ext cx="6812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645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A2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两种额外反馈机制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892040" y="2103120"/>
            <a:ext cx="2651760" cy="260604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Editor Screenshot MCP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38928" y="2880360"/>
            <a:ext cx="2066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加载 Godot 编辑器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返回当前编辑器截图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 Agent 看见节点树/Inspector/场景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83880" y="2103120"/>
            <a:ext cx="2651760" cy="2606040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99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Runtime Video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30768" y="28803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指导 Agent 录制运行视频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补足时序信息与相机视角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通常由模型拆帧后再分析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19472" y="5074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A2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核心对比：Baseline / 截图 / 视频 / 截图+视频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919472" y="54406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=&gt; 论文想验证：只给代码够不够？多模态反馈能否形成“看-改-验”闭环？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A2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 结果：现阶段 Agent 仍难以稳定完成游戏开发任务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686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最好成绩 54.5%，且越偏多模态越掉点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417320"/>
          <a:ext cx="55778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868680" y="4892040"/>
          <a:ext cx="5120640" cy="868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6" name="Image 0" descr="/mnt/data/gamedev_ppt/fig6_co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781844"/>
            <a:ext cx="4572000" cy="247135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720840" y="4663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A2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读图重点</a:t>
            </a:r>
            <a:endParaRPr lang="en-US" sz="1500" dirty="0"/>
          </a:p>
        </p:txBody>
      </p:sp>
      <p:sp>
        <p:nvSpPr>
          <p:cNvPr id="8" name="Text 3"/>
          <p:cNvSpPr/>
          <p:nvPr/>
        </p:nvSpPr>
        <p:spPr>
          <a:xfrm>
            <a:off x="6693408" y="4919472"/>
            <a:ext cx="45720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6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pPr indent="0" marL="0">
              <a:buNone/>
            </a:pPr>
            <a:r>
              <a:rPr lang="en-US" sz="13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最强配置也仅略高于 50%，说明 Agent 可辅助但远未“稳定接管”。
</a:t>
            </a:r>
            <a:pPr indent="0" marL="0">
              <a:buNone/>
            </a:pPr>
            <a:r>
              <a:rPr lang="en-US" sz="136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pPr indent="0" marL="0">
              <a:buNone/>
            </a:pPr>
            <a:r>
              <a:rPr lang="en-US" sz="13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游戏逻辑任务相对好做；2D/3D 图形和动画任务受多模态理解限制更明显。
</a:t>
            </a:r>
            <a:pPr indent="0" marL="0">
              <a:buNone/>
            </a:pPr>
            <a:r>
              <a:rPr lang="en-US" sz="136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pPr indent="0" marL="0">
              <a:buNone/>
            </a:pPr>
            <a:r>
              <a:rPr lang="en-US" sz="13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多模态反馈通常带来更高成功率，但也伴随更高成本。</a:t>
            </a:r>
            <a:endParaRPr lang="en-US" sz="13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A2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6. 论文最值得带走的结论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686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问题不只是“写代码”，而是“理解状态 + 视觉反馈 + 领域模式”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3291840" cy="141732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71907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A. 多模态反馈不是锦上添花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87552" y="2029968"/>
            <a:ext cx="299923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截图 / 视频这类简单反馈就能提升表现，说明未来游戏开发 Agent 必须是“看得见”的。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434840" y="1554480"/>
            <a:ext cx="3291840" cy="1417320"/>
          </a:xfrm>
          <a:prstGeom prst="roundRect">
            <a:avLst/>
          </a:prstGeom>
          <a:solidFill>
            <a:srgbClr val="E9FBF7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171907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9D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B. 领域知识缺口明显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99432" y="2029968"/>
            <a:ext cx="299923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常见错误不是语法，而是节点挂错层级、signal 漏连、资源绑错对象。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46720" y="1554480"/>
            <a:ext cx="3291840" cy="1417320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1312" y="171907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99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C. 框架影响不容忽视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11312" y="2029968"/>
            <a:ext cx="299923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同一底模换不同 agent framework，性能能显著变化，评估不能只看模型名。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3337560"/>
            <a:ext cx="3291840" cy="1417320"/>
          </a:xfrm>
          <a:prstGeom prst="roundRect">
            <a:avLst/>
          </a:prstGeom>
          <a:solidFill>
            <a:srgbClr val="FCEEEF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5021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B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D. 游戏开发是理想桥梁场景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87552" y="3813048"/>
            <a:ext cx="299923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它连接了“纯代码 Agent”和“GUI/视觉 Agent”，也更贴近真实研发流程。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434840" y="3337560"/>
            <a:ext cx="3291840" cy="141732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35021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E. 当前上限仍不够高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99432" y="3813048"/>
            <a:ext cx="299923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最佳 pass@1 仅 54.5%，适合辅助开发，不适合无监督交付。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046720" y="3337560"/>
            <a:ext cx="3291840" cy="141732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11312" y="35021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F. 可借鉴到内部评测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11312" y="3813048"/>
            <a:ext cx="299923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完全可以复刻方法，构建战斗表现 / UI / 动画 / 场景搭建的团队基准集。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14400" y="5257800"/>
            <a:ext cx="10241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1A2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一句话落地：未来真正有用的游戏研发 Agent，应该是“工程读写 + 视觉感知 + 引擎反馈 + 领域知识库”四者协同。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A2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7. 给团队的行动建议（可直接落地）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686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建议先做内部 mini-benchmark，再验证视觉闭环收益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389888"/>
            <a:ext cx="640080" cy="502920"/>
          </a:xfrm>
          <a:prstGeom prst="roundRect">
            <a:avLst/>
          </a:prstGeom>
          <a:solidFill>
            <a:srgbClr val="171A21"/>
          </a:solidFill>
          <a:ln w="12700">
            <a:solidFill>
              <a:srgbClr val="171A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5270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91640" y="14630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A2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任务盘点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063240" y="141732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把现有工作拆成：纯逻辑、逻辑+配置、逻辑+资源+视觉验证 三层。</a:t>
            </a:r>
            <a:endParaRPr lang="en-US" sz="1480" dirty="0"/>
          </a:p>
        </p:txBody>
      </p:sp>
      <p:sp>
        <p:nvSpPr>
          <p:cNvPr id="8" name="Text 6"/>
          <p:cNvSpPr/>
          <p:nvPr/>
        </p:nvSpPr>
        <p:spPr>
          <a:xfrm>
            <a:off x="1033272" y="189280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267712"/>
            <a:ext cx="640080" cy="502920"/>
          </a:xfrm>
          <a:prstGeom prst="roundRect">
            <a:avLst/>
          </a:prstGeom>
          <a:solidFill>
            <a:srgbClr val="171A21"/>
          </a:solidFill>
          <a:ln w="12700">
            <a:solidFill>
              <a:srgbClr val="171A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40487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91640" y="234086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A2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先做 10–20 个样题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063240" y="2295144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优先覆盖：UI、动画状态、技能表现、碰撞/挂点、场景搭建。</a:t>
            </a:r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1033272" y="277063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↓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145536"/>
            <a:ext cx="640080" cy="502920"/>
          </a:xfrm>
          <a:prstGeom prst="roundRect">
            <a:avLst/>
          </a:prstGeom>
          <a:solidFill>
            <a:srgbClr val="171A21"/>
          </a:solidFill>
          <a:ln w="12700">
            <a:solidFill>
              <a:srgbClr val="171A2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2826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91640" y="32186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A2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做自动验证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063240" y="3172968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每个任务都要有起始工程、instruction、GT、脚本化验收。</a:t>
            </a:r>
            <a:endParaRPr lang="en-US" sz="1480" dirty="0"/>
          </a:p>
        </p:txBody>
      </p:sp>
      <p:sp>
        <p:nvSpPr>
          <p:cNvPr id="18" name="Text 16"/>
          <p:cNvSpPr/>
          <p:nvPr/>
        </p:nvSpPr>
        <p:spPr>
          <a:xfrm>
            <a:off x="1033272" y="364845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4023360"/>
            <a:ext cx="640080" cy="502920"/>
          </a:xfrm>
          <a:prstGeom prst="roundRect">
            <a:avLst/>
          </a:prstGeom>
          <a:solidFill>
            <a:srgbClr val="171A21"/>
          </a:solidFill>
          <a:ln w="12700">
            <a:solidFill>
              <a:srgbClr val="171A2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160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91640" y="40965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A2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加视觉闭环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063240" y="405079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对同一任务比较：仅代码 / +截图 / +视频 / +截图+视频。</a:t>
            </a:r>
            <a:endParaRPr lang="en-US" sz="1480" dirty="0"/>
          </a:p>
        </p:txBody>
      </p:sp>
      <p:sp>
        <p:nvSpPr>
          <p:cNvPr id="23" name="Text 21"/>
          <p:cNvSpPr/>
          <p:nvPr/>
        </p:nvSpPr>
        <p:spPr>
          <a:xfrm>
            <a:off x="1033272" y="45262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↓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22960" y="4901184"/>
            <a:ext cx="640080" cy="502920"/>
          </a:xfrm>
          <a:prstGeom prst="roundRect">
            <a:avLst/>
          </a:prstGeom>
          <a:solidFill>
            <a:srgbClr val="171A21"/>
          </a:solidFill>
          <a:ln w="12700">
            <a:solidFill>
              <a:srgbClr val="171A2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503834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691640" y="49743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A2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沉淀领域知识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063240" y="4928616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节点树规范、signal 模式、资源命名、表现模板，形成 Agent 可用知识库。</a:t>
            </a:r>
            <a:endParaRPr lang="en-US" sz="1480" dirty="0"/>
          </a:p>
        </p:txBody>
      </p:sp>
      <p:sp>
        <p:nvSpPr>
          <p:cNvPr id="28" name="Shape 26"/>
          <p:cNvSpPr/>
          <p:nvPr/>
        </p:nvSpPr>
        <p:spPr>
          <a:xfrm>
            <a:off x="8412480" y="1645920"/>
            <a:ext cx="28346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86800" y="19202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A2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建议的输出物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668512" y="2286000"/>
            <a:ext cx="201168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内部 benchmark 任务表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自动验收脚本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模型 / 框架 / 工具对比记录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失败案例库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游戏研发模式知识库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641080" y="4160520"/>
            <a:ext cx="2331720" cy="640080"/>
          </a:xfrm>
          <a:prstGeom prst="roundRect">
            <a:avLst/>
          </a:prstGeom>
          <a:solidFill>
            <a:srgbClr val="E9FBF7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96528" y="42885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9D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目标：从“论文理解”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9D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转成“团队能力建设”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8680" y="58704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A2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附：一句话结论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2286000" y="5760720"/>
            <a:ext cx="88696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这篇论文最重要的价值，不是“哪家模型赢了”，而是为“游戏开发 Agent”提供了第一套足够真实、足够多模态、又能自动验证的评测框架。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GameDevBench 论文总结</dc:title>
  <dc:subject>GameDevBench paper summary</dc:subject>
  <dc:creator>OpenAI</dc:creator>
  <cp:lastModifiedBy>OpenAI</cp:lastModifiedBy>
  <cp:revision>1</cp:revision>
  <dcterms:created xsi:type="dcterms:W3CDTF">2026-04-14T04:50:02Z</dcterms:created>
  <dcterms:modified xsi:type="dcterms:W3CDTF">2026-04-14T04:50:02Z</dcterms:modified>
</cp:coreProperties>
</file>